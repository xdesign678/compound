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52ff9ab1bc4682" /><Relationship Type="http://schemas.openxmlformats.org/officeDocument/2006/relationships/extended-properties" Target="/docProps/app.xml" Id="R39846a083a634d1e" /><Relationship Type="http://schemas.openxmlformats.org/officeDocument/2006/relationships/officeDocument" Target="/ppt/presentation.xml" Id="Rda50feca79914b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7e534df34c4049"/>
  </p:sldMasterIdLst>
  <p:notesMasterIdLst>
    <p:notesMasterId xmlns:r="http://schemas.openxmlformats.org/officeDocument/2006/relationships" r:id="R20a6e39ff2ee4593"/>
  </p:notesMasterIdLst>
  <p:sldIdLst>
    <p:sldId xmlns:r="http://schemas.openxmlformats.org/officeDocument/2006/relationships" id="256" r:id="R77d3c4c11b2145ed"/>
    <p:sldId xmlns:r="http://schemas.openxmlformats.org/officeDocument/2006/relationships" id="257" r:id="R93d89bce6bcd4e05"/>
    <p:sldId xmlns:r="http://schemas.openxmlformats.org/officeDocument/2006/relationships" id="258" r:id="Rcf8dad017e694e8b"/>
    <p:sldId xmlns:r="http://schemas.openxmlformats.org/officeDocument/2006/relationships" id="259" r:id="R33773f0fbe8c47be"/>
    <p:sldId xmlns:r="http://schemas.openxmlformats.org/officeDocument/2006/relationships" id="260" r:id="Ra7def3f779c84969"/>
    <p:sldId xmlns:r="http://schemas.openxmlformats.org/officeDocument/2006/relationships" id="261" r:id="R8b3428ec1bc64f62"/>
    <p:sldId xmlns:r="http://schemas.openxmlformats.org/officeDocument/2006/relationships" id="262" r:id="Re5ad0786bc5e447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5eb8a7f6734bb7" /><Relationship Type="http://schemas.openxmlformats.org/officeDocument/2006/relationships/slideMaster" Target="/ppt/slideMasters/slideMaster1.xml" Id="R177e534df34c4049" /><Relationship Type="http://schemas.openxmlformats.org/officeDocument/2006/relationships/notesMaster" Target="/ppt/notesMasters/notesMaster1.xml" Id="R20a6e39ff2ee4593" /><Relationship Type="http://schemas.openxmlformats.org/officeDocument/2006/relationships/presProps" Target="/ppt/presProps.xml" Id="R9f30cecaa6cc4b8a" /><Relationship Type="http://schemas.openxmlformats.org/officeDocument/2006/relationships/tableStyles" Target="/ppt/tableStyles.xml" Id="R64b9a9da83a44606" /><Relationship Type="http://schemas.openxmlformats.org/officeDocument/2006/relationships/slide" Target="/ppt/slides/slide1.xml" Id="R77d3c4c11b2145ed" /><Relationship Type="http://schemas.openxmlformats.org/officeDocument/2006/relationships/slide" Target="/ppt/slides/slide2.xml" Id="R93d89bce6bcd4e05" /><Relationship Type="http://schemas.openxmlformats.org/officeDocument/2006/relationships/slide" Target="/ppt/slides/slide3.xml" Id="Rcf8dad017e694e8b" /><Relationship Type="http://schemas.openxmlformats.org/officeDocument/2006/relationships/slide" Target="/ppt/slides/slide4.xml" Id="R33773f0fbe8c47be" /><Relationship Type="http://schemas.openxmlformats.org/officeDocument/2006/relationships/slide" Target="/ppt/slides/slide5.xml" Id="Ra7def3f779c84969" /><Relationship Type="http://schemas.openxmlformats.org/officeDocument/2006/relationships/slide" Target="/ppt/slides/slide6.xml" Id="R8b3428ec1bc64f62" /><Relationship Type="http://schemas.openxmlformats.org/officeDocument/2006/relationships/slide" Target="/ppt/slides/slide7.xml" Id="Re5ad0786bc5e44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b3964f9fdb4e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f0e34e721948ba" /><Relationship Type="http://schemas.openxmlformats.org/officeDocument/2006/relationships/notesMaster" Target="/ppt/notesMasters/notesMaster1.xml" Id="R113e4bc545b44a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0a1bad8c094da1" /><Relationship Type="http://schemas.openxmlformats.org/officeDocument/2006/relationships/notesMaster" Target="/ppt/notesMasters/notesMaster1.xml" Id="Rc902bd802abb40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849eada859408e" /><Relationship Type="http://schemas.openxmlformats.org/officeDocument/2006/relationships/notesMaster" Target="/ppt/notesMasters/notesMaster1.xml" Id="R6e4f979a920c44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8870e63b414e18" /><Relationship Type="http://schemas.openxmlformats.org/officeDocument/2006/relationships/notesMaster" Target="/ppt/notesMasters/notesMaster1.xml" Id="Rb4d26d2901b64d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47aadf67464c0a" /><Relationship Type="http://schemas.openxmlformats.org/officeDocument/2006/relationships/notesMaster" Target="/ppt/notesMasters/notesMaster1.xml" Id="R67f04c9b917a40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1940a5091e496d" /><Relationship Type="http://schemas.openxmlformats.org/officeDocument/2006/relationships/notesMaster" Target="/ppt/notesMasters/notesMaster1.xml" Id="R47666b4907a94f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6a27e99bee4d84" /><Relationship Type="http://schemas.openxmlformats.org/officeDocument/2006/relationships/notesMaster" Target="/ppt/notesMasters/notesMaster1.xml" Id="R27dd75fa5de245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24e19c015d4e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b342d152d84d42" /><Relationship Type="http://schemas.openxmlformats.org/officeDocument/2006/relationships/slideLayout" Target="/ppt/slideLayouts/slideLayout1.xml" Id="R999cf0147de642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9cf0147de642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10b900c0741e7" /><Relationship Type="http://schemas.openxmlformats.org/officeDocument/2006/relationships/image" Target="/ppt/media/image.jpeg" Id="R59d3261a9ea641f1" /><Relationship Type="http://schemas.openxmlformats.org/officeDocument/2006/relationships/notesSlide" Target="/ppt/notesSlides/notesSlide1.xml" Id="R755271f30d8d46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32be772f04eec" /><Relationship Type="http://schemas.openxmlformats.org/officeDocument/2006/relationships/notesSlide" Target="/ppt/notesSlides/notesSlide2.xml" Id="Rab222590d11a40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e2b8224d34b7b" /><Relationship Type="http://schemas.openxmlformats.org/officeDocument/2006/relationships/image" Target="/ppt/media/image2.jpeg" Id="R693c90508e444a44" /><Relationship Type="http://schemas.openxmlformats.org/officeDocument/2006/relationships/notesSlide" Target="/ppt/notesSlides/notesSlide3.xml" Id="Re7275990bd5042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f3cdd577f4045" /><Relationship Type="http://schemas.openxmlformats.org/officeDocument/2006/relationships/image" Target="/ppt/media/image3.jpeg" Id="R500a72cb39fc472f" /><Relationship Type="http://schemas.openxmlformats.org/officeDocument/2006/relationships/notesSlide" Target="/ppt/notesSlides/notesSlide4.xml" Id="Rf766544e354446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c203b757d495f" /><Relationship Type="http://schemas.openxmlformats.org/officeDocument/2006/relationships/image" Target="/ppt/media/image4.jpeg" Id="R297253fc42234820" /><Relationship Type="http://schemas.openxmlformats.org/officeDocument/2006/relationships/notesSlide" Target="/ppt/notesSlides/notesSlide5.xml" Id="Rea4ecd5c266642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f05b6d2ea4beb" /><Relationship Type="http://schemas.openxmlformats.org/officeDocument/2006/relationships/image" Target="/ppt/media/image5.jpeg" Id="Re2e500a945324c90" /><Relationship Type="http://schemas.openxmlformats.org/officeDocument/2006/relationships/image" Target="/ppt/media/image6.jpeg" Id="R5675a3ae811a4a95" /><Relationship Type="http://schemas.openxmlformats.org/officeDocument/2006/relationships/notesSlide" Target="/ppt/notesSlides/notesSlide6.xml" Id="R4a258cfbdd414f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bcdcdafaf452e" /><Relationship Type="http://schemas.openxmlformats.org/officeDocument/2006/relationships/notesSlide" Target="/ppt/notesSlides/notesSlide7.xml" Id="R709c47037bec4c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solar-system-her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d3261a9ea641f1"/>
          <a:srcRect xmlns:a="http://schemas.openxmlformats.org/drawingml/2006/main" l="16466" t="0" r="164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0" y="0"/>
            <a:ext cx="8191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anel">
            <a:extLst xmlns:a="http://schemas.openxmlformats.org/drawingml/2006/main">
              <a:ext uri="{FF2B5EF4-FFF2-40B4-BE49-F238E27FC236}">
                <a16:creationId xmlns:a16="http://schemas.microsoft.com/office/drawing/2014/main" id="{176E778F-FE31-4A02-BC9F-6650CEBC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1C61341-0A43-4233-BC31-C82F1113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3905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太阳系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F946504-7418-4E3B-8921-F8E0CEAE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90750"/>
            <a:ext cx="3429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一套由太阳组织的系统</a:t>
            </a:r>
          </a:p>
        </p:txBody>
      </p:sp>
      <p:sp>
        <p:nvSpPr>
          <p:cNvPr id="5" name="cover-note">
            <a:extLst xmlns:a="http://schemas.openxmlformats.org/drawingml/2006/main">
              <a:ext uri="{FF2B5EF4-FFF2-40B4-BE49-F238E27FC236}">
                <a16:creationId xmlns:a16="http://schemas.microsoft.com/office/drawing/2014/main" id="{A2A58D70-65C7-467F-86EA-20C75286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38700"/>
            <a:ext cx="3238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从行星、卫星到小行星和彗星，太阳系不是一张静态地图，而是一套被引力、光和时间塑造的结构。</a:t>
            </a:r>
          </a:p>
        </p:txBody>
      </p:sp>
      <p:sp>
        <p:nvSpPr>
          <p:cNvPr id="6" name="source-1">
            <a:extLst xmlns:a="http://schemas.openxmlformats.org/drawingml/2006/main">
              <a:ext uri="{FF2B5EF4-FFF2-40B4-BE49-F238E27FC236}">
                <a16:creationId xmlns:a16="http://schemas.microsoft.com/office/drawing/2014/main" id="{7B178A92-FEF6-4960-8469-EECFF66E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647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Image: NASA Science</a:t>
            </a:r>
          </a:p>
        </p:txBody>
      </p:sp>
      <p:sp>
        <p:nvSpPr>
          <p:cNvPr id="7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75307E60-B65E-4DB2-A6DE-5840AFB0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476056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FE5FD5CE-CCCF-4576-9514-C4817F97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5334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先记住这组尺度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034EE39-8A30-49CF-B359-AF219875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"/>
            <a:ext cx="52387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7572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NASA 对太阳系的简明描述：它包含一颗恒星、八颗行星、五颗正式命名的矮行星，以及大量卫星、小行星和彗星。</a:t>
            </a:r>
          </a:p>
        </p:txBody>
      </p:sp>
      <p:sp>
        <p:nvSpPr>
          <p:cNvPr id="3" name="panel">
            <a:extLst xmlns:a="http://schemas.openxmlformats.org/drawingml/2006/main">
              <a:ext uri="{FF2B5EF4-FFF2-40B4-BE49-F238E27FC236}">
                <a16:creationId xmlns:a16="http://schemas.microsoft.com/office/drawing/2014/main" id="{928064FC-9E23-465E-B00C-6B95D73D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18859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tric-1">
            <a:extLst xmlns:a="http://schemas.openxmlformats.org/drawingml/2006/main">
              <a:ext uri="{FF2B5EF4-FFF2-40B4-BE49-F238E27FC236}">
                <a16:creationId xmlns:a16="http://schemas.microsoft.com/office/drawing/2014/main" id="{7984619B-DEB8-4610-B32D-51D87F14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1428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5" name="label-1">
            <a:extLst xmlns:a="http://schemas.openxmlformats.org/drawingml/2006/main">
              <a:ext uri="{FF2B5EF4-FFF2-40B4-BE49-F238E27FC236}">
                <a16:creationId xmlns:a16="http://schemas.microsoft.com/office/drawing/2014/main" id="{4FFCB334-9F64-4E4C-8EFE-A02799CB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43300"/>
            <a:ext cx="1428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恒星：太阳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932C4743-77B9-465F-8697-E8864D18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114550"/>
            <a:ext cx="18859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8">
            <a:extLst xmlns:a="http://schemas.openxmlformats.org/drawingml/2006/main">
              <a:ext uri="{FF2B5EF4-FFF2-40B4-BE49-F238E27FC236}">
                <a16:creationId xmlns:a16="http://schemas.microsoft.com/office/drawing/2014/main" id="{287BF959-139A-4C65-83D3-45596017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62200"/>
            <a:ext cx="1428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8" name="label-8">
            <a:extLst xmlns:a="http://schemas.openxmlformats.org/drawingml/2006/main">
              <a:ext uri="{FF2B5EF4-FFF2-40B4-BE49-F238E27FC236}">
                <a16:creationId xmlns:a16="http://schemas.microsoft.com/office/drawing/2014/main" id="{061FCF81-101D-4C23-B31D-427505C7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543300"/>
            <a:ext cx="1428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行星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1C68BF9D-B913-44AC-B6F1-F7C99693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14550"/>
            <a:ext cx="18859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5">
            <a:extLst xmlns:a="http://schemas.openxmlformats.org/drawingml/2006/main">
              <a:ext uri="{FF2B5EF4-FFF2-40B4-BE49-F238E27FC236}">
                <a16:creationId xmlns:a16="http://schemas.microsoft.com/office/drawing/2014/main" id="{7B2C16CC-1AEE-4C74-A323-A9FE29C4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62200"/>
            <a:ext cx="1428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11" name="label-5">
            <a:extLst xmlns:a="http://schemas.openxmlformats.org/drawingml/2006/main">
              <a:ext uri="{FF2B5EF4-FFF2-40B4-BE49-F238E27FC236}">
                <a16:creationId xmlns:a16="http://schemas.microsoft.com/office/drawing/2014/main" id="{8F74B1F0-6D5E-40F0-B1DF-C30CF3EF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43300"/>
            <a:ext cx="1428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正式命名的矮行星</a:t>
            </a:r>
          </a:p>
        </p:txBody>
      </p: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CC5A0FFA-8F5C-4505-A97C-AA51CEAF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14550"/>
            <a:ext cx="18859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290+">
            <a:extLst xmlns:a="http://schemas.openxmlformats.org/drawingml/2006/main">
              <a:ext uri="{FF2B5EF4-FFF2-40B4-BE49-F238E27FC236}">
                <a16:creationId xmlns:a16="http://schemas.microsoft.com/office/drawing/2014/main" id="{488DD5F5-C955-4FD9-B78C-CA82D27C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62200"/>
            <a:ext cx="1428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290+</a:t>
            </a:r>
          </a:p>
        </p:txBody>
      </p:sp>
      <p:sp>
        <p:nvSpPr>
          <p:cNvPr id="14" name="label-290+">
            <a:extLst xmlns:a="http://schemas.openxmlformats.org/drawingml/2006/main">
              <a:ext uri="{FF2B5EF4-FFF2-40B4-BE49-F238E27FC236}">
                <a16:creationId xmlns:a16="http://schemas.microsoft.com/office/drawing/2014/main" id="{65F8F7F7-CEB4-4964-AEF5-7B27064A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43300"/>
            <a:ext cx="1428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卫星</a:t>
            </a:r>
          </a:p>
        </p:txBody>
      </p:sp>
      <p:sp>
        <p:nvSpPr>
          <p:cNvPr id="15" name="panel">
            <a:extLst xmlns:a="http://schemas.openxmlformats.org/drawingml/2006/main">
              <a:ext uri="{FF2B5EF4-FFF2-40B4-BE49-F238E27FC236}">
                <a16:creationId xmlns:a16="http://schemas.microsoft.com/office/drawing/2014/main" id="{DC4AFB5F-4990-4837-8A9D-32DE54F3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14550"/>
            <a:ext cx="18859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ric-1.3M+">
            <a:extLst xmlns:a="http://schemas.openxmlformats.org/drawingml/2006/main">
              <a:ext uri="{FF2B5EF4-FFF2-40B4-BE49-F238E27FC236}">
                <a16:creationId xmlns:a16="http://schemas.microsoft.com/office/drawing/2014/main" id="{787F123D-2290-4C39-9C3D-4F5BA55B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62200"/>
            <a:ext cx="1428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1.3M+</a:t>
            </a:r>
          </a:p>
        </p:txBody>
      </p:sp>
      <p:sp>
        <p:nvSpPr>
          <p:cNvPr id="17" name="label-1.3M+">
            <a:extLst xmlns:a="http://schemas.openxmlformats.org/drawingml/2006/main">
              <a:ext uri="{FF2B5EF4-FFF2-40B4-BE49-F238E27FC236}">
                <a16:creationId xmlns:a16="http://schemas.microsoft.com/office/drawing/2014/main" id="{1D4893D6-D3D0-467A-A2D4-63589A89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43300"/>
            <a:ext cx="1428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小行星</a:t>
            </a:r>
          </a:p>
        </p:txBody>
      </p:sp>
      <p:sp>
        <p:nvSpPr>
          <p:cNvPr id="18" name="panel">
            <a:extLst xmlns:a="http://schemas.openxmlformats.org/drawingml/2006/main">
              <a:ext uri="{FF2B5EF4-FFF2-40B4-BE49-F238E27FC236}">
                <a16:creationId xmlns:a16="http://schemas.microsoft.com/office/drawing/2014/main" id="{0FA30AA9-2BC4-4AF4-99B1-FCEF9BD1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91150"/>
            <a:ext cx="12192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keaway">
            <a:extLst xmlns:a="http://schemas.openxmlformats.org/drawingml/2006/main">
              <a:ext uri="{FF2B5EF4-FFF2-40B4-BE49-F238E27FC236}">
                <a16:creationId xmlns:a16="http://schemas.microsoft.com/office/drawing/2014/main" id="{8C4EA812-D26A-48A4-9936-6A91341F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0287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数字会随着新发现更新；真正重要的是结构：太阳提供中心引力场，行星沿轨道运行，小天体保留早期太阳系线索。</a:t>
            </a:r>
          </a:p>
        </p:txBody>
      </p:sp>
      <p:sp>
        <p:nvSpPr>
          <p:cNvPr id="20" name="source-2">
            <a:extLst xmlns:a="http://schemas.openxmlformats.org/drawingml/2006/main">
              <a:ext uri="{FF2B5EF4-FFF2-40B4-BE49-F238E27FC236}">
                <a16:creationId xmlns:a16="http://schemas.microsoft.com/office/drawing/2014/main" id="{07FE19C5-3C1D-49D4-91DC-ABC9E640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647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Source: NASA Solar System Exploration</a:t>
            </a:r>
          </a:p>
        </p:txBody>
      </p:sp>
      <p:sp>
        <p:nvSpPr>
          <p:cNvPr id="21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C03CC984-FC48-4CAE-B76F-8CA669F7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450507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E8D0605B-4C61-4392-954A-6D12C126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5810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行星大致分成两类</a:t>
            </a:r>
          </a:p>
        </p:txBody>
      </p:sp>
      <p:pic>
        <p:nvPicPr>
          <p:cNvPr id="8" name="planet-gri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3c90508e444a44"/>
          <a:srcRect xmlns:a="http://schemas.openxmlformats.org/drawingml/2006/main" l="1533" t="0" r="15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104900"/>
            <a:ext cx="5219700" cy="30289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9" name="planet-family-table"/>
          <p:cNvGraphicFramePr/>
          <p:nvPr/>
        </p:nvGraphicFramePr>
        <p:xfrm>
          <a:off xmlns:a="http://schemas.openxmlformats.org/drawingml/2006/main" x="400050" y="1638300"/>
          <a:ext xmlns:a="http://schemas.openxmlformats.org/drawingml/2006/main" cx="57150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095500"/>
                <a:gridCol w="2190750"/>
              </a:tblGrid>
              <a:tr h="762000">
                <a:tc>
                  <a:txBody>
                    <a:bodyPr/>
                    <a:lstStyle/>
                    <a:p>
                      <a:r>
                        <a:t>类别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成员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核心特征</a:t>
                      </a:r>
                    </a:p>
                  </a:txBody>
                  <a:tcPr marL="91440" marR="91440" marT="45720" marB="45720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内侧岩石行星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水星、金星、地球、火星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体积较小，表面多为岩石；离太阳近。</a:t>
                      </a:r>
                    </a:p>
                  </a:txBody>
                  <a:tcPr marL="91440" marR="91440" marT="45720" marB="45720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外侧巨行星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木星、土星、天王星、海王星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体积巨大，多为气体或冰巨行星；拥有众多卫星。</a:t>
                      </a:r>
                    </a:p>
                  </a:txBody>
                  <a:tcPr marL="91440" marR="91440" marT="45720" marB="45720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矮行星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如冥王星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不是八大行星，但仍是太阳系成员。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image-note">
            <a:extLst xmlns:a="http://schemas.openxmlformats.org/drawingml/2006/main">
              <a:ext uri="{FF2B5EF4-FFF2-40B4-BE49-F238E27FC236}">
                <a16:creationId xmlns:a16="http://schemas.microsoft.com/office/drawing/2014/main" id="{CC03100F-ED1C-45A1-A3C9-4D8362A3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57700"/>
            <a:ext cx="4953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图中包含冥王星，它现在被归为矮行星；这正好提醒我们：分类会变，但天体本身仍在那里。</a:t>
            </a:r>
          </a:p>
        </p:txBody>
      </p:sp>
      <p:sp>
        <p:nvSpPr>
          <p:cNvPr id="5" name="source-3">
            <a:extLst xmlns:a="http://schemas.openxmlformats.org/drawingml/2006/main">
              <a:ext uri="{FF2B5EF4-FFF2-40B4-BE49-F238E27FC236}">
                <a16:creationId xmlns:a16="http://schemas.microsoft.com/office/drawing/2014/main" id="{AEAFE447-A10A-484F-82C6-37CBCCA4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647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Image/Source: NASA Science, Planets</a:t>
            </a:r>
          </a:p>
        </p:txBody>
      </p:sp>
      <p:sp>
        <p:nvSpPr>
          <p:cNvPr id="6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8A27BA40-AE3B-4385-83A0-506DA10F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536384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sun-plasm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0a72cb39fc472f"/>
          <a:srcRect xmlns:a="http://schemas.openxmlformats.org/drawingml/2006/main" l="13342" t="0" r="133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00875" y="0"/>
            <a:ext cx="51911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990758-9E9E-48F3-84E7-E221FB50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61912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太阳定义系统规则</a:t>
            </a:r>
          </a:p>
        </p:txBody>
      </p:sp>
      <p:sp>
        <p:nvSpPr>
          <p:cNvPr id="3" name="marker-引力">
            <a:extLst xmlns:a="http://schemas.openxmlformats.org/drawingml/2006/main">
              <a:ext uri="{FF2B5EF4-FFF2-40B4-BE49-F238E27FC236}">
                <a16:creationId xmlns:a16="http://schemas.microsoft.com/office/drawing/2014/main" id="{3D0EE4CD-A183-4D46-AB6B-A22C3293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4" name="head-引力">
            <a:extLst xmlns:a="http://schemas.openxmlformats.org/drawingml/2006/main">
              <a:ext uri="{FF2B5EF4-FFF2-40B4-BE49-F238E27FC236}">
                <a16:creationId xmlns:a16="http://schemas.microsoft.com/office/drawing/2014/main" id="{F9BE7718-BC93-4879-A5F0-924DB4EE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引力</a:t>
            </a:r>
          </a:p>
        </p:txBody>
      </p:sp>
      <p:sp>
        <p:nvSpPr>
          <p:cNvPr id="5" name="body-引力">
            <a:extLst xmlns:a="http://schemas.openxmlformats.org/drawingml/2006/main">
              <a:ext uri="{FF2B5EF4-FFF2-40B4-BE49-F238E27FC236}">
                <a16:creationId xmlns:a16="http://schemas.microsoft.com/office/drawing/2014/main" id="{4779563A-CCBF-4C92-AE2E-C74C24B4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495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把行星、矮行星、小天体约束在太阳周围。</a:t>
            </a:r>
          </a:p>
        </p:txBody>
      </p:sp>
      <p:sp>
        <p:nvSpPr>
          <p:cNvPr id="6" name="marker-能量">
            <a:extLst xmlns:a="http://schemas.openxmlformats.org/drawingml/2006/main">
              <a:ext uri="{FF2B5EF4-FFF2-40B4-BE49-F238E27FC236}">
                <a16:creationId xmlns:a16="http://schemas.microsoft.com/office/drawing/2014/main" id="{6BD963CA-9163-406B-83A2-D376B4BB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head-能量">
            <a:extLst xmlns:a="http://schemas.openxmlformats.org/drawingml/2006/main">
              <a:ext uri="{FF2B5EF4-FFF2-40B4-BE49-F238E27FC236}">
                <a16:creationId xmlns:a16="http://schemas.microsoft.com/office/drawing/2014/main" id="{A44E80DE-FA94-4597-9016-DF5A586D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能量</a:t>
            </a:r>
          </a:p>
        </p:txBody>
      </p:sp>
      <p:sp>
        <p:nvSpPr>
          <p:cNvPr id="8" name="body-能量">
            <a:extLst xmlns:a="http://schemas.openxmlformats.org/drawingml/2006/main">
              <a:ext uri="{FF2B5EF4-FFF2-40B4-BE49-F238E27FC236}">
                <a16:creationId xmlns:a16="http://schemas.microsoft.com/office/drawing/2014/main" id="{770DE0BA-C905-4BD7-A05F-66A567DC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495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让地球表面拥有适宜的光和热，也驱动行星大气。</a:t>
            </a:r>
          </a:p>
        </p:txBody>
      </p:sp>
      <p:sp>
        <p:nvSpPr>
          <p:cNvPr id="9" name="marker-空间天气">
            <a:extLst xmlns:a="http://schemas.openxmlformats.org/drawingml/2006/main">
              <a:ext uri="{FF2B5EF4-FFF2-40B4-BE49-F238E27FC236}">
                <a16:creationId xmlns:a16="http://schemas.microsoft.com/office/drawing/2014/main" id="{3E31FFC7-6835-4642-90D8-FA06D823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0" name="head-空间天气">
            <a:extLst xmlns:a="http://schemas.openxmlformats.org/drawingml/2006/main">
              <a:ext uri="{FF2B5EF4-FFF2-40B4-BE49-F238E27FC236}">
                <a16:creationId xmlns:a16="http://schemas.microsoft.com/office/drawing/2014/main" id="{4604BCF3-E8EA-4A82-8606-D18D10F8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空间天气</a:t>
            </a:r>
          </a:p>
        </p:txBody>
      </p:sp>
      <p:sp>
        <p:nvSpPr>
          <p:cNvPr id="11" name="body-空间天气">
            <a:extLst xmlns:a="http://schemas.openxmlformats.org/drawingml/2006/main">
              <a:ext uri="{FF2B5EF4-FFF2-40B4-BE49-F238E27FC236}">
                <a16:creationId xmlns:a16="http://schemas.microsoft.com/office/drawing/2014/main" id="{E883030D-FA27-4B2D-8C49-F07D8C34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495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太阳活动会影响磁层、卫星通信和探测任务。</a:t>
            </a:r>
          </a:p>
        </p:txBody>
      </p:sp>
      <p:sp>
        <p:nvSpPr>
          <p:cNvPr id="12" name="source-4">
            <a:extLst xmlns:a="http://schemas.openxmlformats.org/drawingml/2006/main">
              <a:ext uri="{FF2B5EF4-FFF2-40B4-BE49-F238E27FC236}">
                <a16:creationId xmlns:a16="http://schemas.microsoft.com/office/drawing/2014/main" id="{B5ED85D9-CA0E-462D-8F58-A6F71615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647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Image/Source: NASA Science, Sun</a:t>
            </a:r>
          </a:p>
        </p:txBody>
      </p:sp>
      <p:sp>
        <p:nvSpPr>
          <p:cNvPr id="13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8B416025-E468-43D0-BFB0-8ECFE8B3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400627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DFACE26F-A1EA-4D1C-874E-7822FED2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6096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小天体保存早期线索</a:t>
            </a:r>
          </a:p>
        </p:txBody>
      </p:sp>
      <p:pic>
        <p:nvPicPr>
          <p:cNvPr id="15" name="bennu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7253fc42234820"/>
          <a:srcRect xmlns:a="http://schemas.openxmlformats.org/drawingml/2006/main" l="0" t="127" r="0" b="1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352550"/>
            <a:ext cx="4991100" cy="3733800"/>
          </a:xfrm>
          <a:prstGeom xmlns:a="http://schemas.openxmlformats.org/drawingml/2006/main" prst="rect">
            <a:avLst/>
          </a:prstGeom>
        </p:spPr>
      </p:pic>
      <p:sp>
        <p:nvSpPr>
          <p:cNvPr id="3" name="panel">
            <a:extLst xmlns:a="http://schemas.openxmlformats.org/drawingml/2006/main">
              <a:ext uri="{FF2B5EF4-FFF2-40B4-BE49-F238E27FC236}">
                <a16:creationId xmlns:a16="http://schemas.microsoft.com/office/drawing/2014/main" id="{9E63037D-C895-48FB-AEDE-ACC81F98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352550"/>
            <a:ext cx="26479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steroid-head">
            <a:extLst xmlns:a="http://schemas.openxmlformats.org/drawingml/2006/main">
              <a:ext uri="{FF2B5EF4-FFF2-40B4-BE49-F238E27FC236}">
                <a16:creationId xmlns:a16="http://schemas.microsoft.com/office/drawing/2014/main" id="{F9E68E2A-47FD-4167-B691-6C40BC40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62100"/>
            <a:ext cx="209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小行星</a:t>
            </a:r>
          </a:p>
        </p:txBody>
      </p:sp>
      <p:sp>
        <p:nvSpPr>
          <p:cNvPr id="5" name="asteroid-body">
            <a:extLst xmlns:a="http://schemas.openxmlformats.org/drawingml/2006/main">
              <a:ext uri="{FF2B5EF4-FFF2-40B4-BE49-F238E27FC236}">
                <a16:creationId xmlns:a16="http://schemas.microsoft.com/office/drawing/2014/main" id="{36BC4DC8-B86F-4F0E-8668-916E390B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3360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多为岩石或金属碎片，常被看作行星形成后的剩余材料。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6A681F95-854B-4F4E-B021-BAECC076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352550"/>
            <a:ext cx="26479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met-head">
            <a:extLst xmlns:a="http://schemas.openxmlformats.org/drawingml/2006/main">
              <a:ext uri="{FF2B5EF4-FFF2-40B4-BE49-F238E27FC236}">
                <a16:creationId xmlns:a16="http://schemas.microsoft.com/office/drawing/2014/main" id="{B01AC14B-3B40-48B1-BBFD-142512B9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62100"/>
            <a:ext cx="209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彗星</a:t>
            </a:r>
          </a:p>
        </p:txBody>
      </p:sp>
      <p:sp>
        <p:nvSpPr>
          <p:cNvPr id="8" name="comet-body">
            <a:extLst xmlns:a="http://schemas.openxmlformats.org/drawingml/2006/main">
              <a:ext uri="{FF2B5EF4-FFF2-40B4-BE49-F238E27FC236}">
                <a16:creationId xmlns:a16="http://schemas.microsoft.com/office/drawing/2014/main" id="{13B34AF9-1ED3-4C43-9366-1C8A09A5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含冰和尘埃；靠近太阳时会形成明亮彗发和彗尾。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F76C546F-48AB-4353-9446-F983B7F8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71850"/>
            <a:ext cx="56959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hy-head">
            <a:extLst xmlns:a="http://schemas.openxmlformats.org/drawingml/2006/main">
              <a:ext uri="{FF2B5EF4-FFF2-40B4-BE49-F238E27FC236}">
                <a16:creationId xmlns:a16="http://schemas.microsoft.com/office/drawing/2014/main" id="{3CFEB271-45F9-4CA2-9DDC-504E6397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19500"/>
            <a:ext cx="2381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为什么它们重要</a:t>
            </a:r>
          </a:p>
        </p:txBody>
      </p:sp>
      <p:sp>
        <p:nvSpPr>
          <p:cNvPr id="11" name="why-body">
            <a:extLst xmlns:a="http://schemas.openxmlformats.org/drawingml/2006/main">
              <a:ext uri="{FF2B5EF4-FFF2-40B4-BE49-F238E27FC236}">
                <a16:creationId xmlns:a16="http://schemas.microsoft.com/office/drawing/2014/main" id="{1B24338A-DB05-4A85-BB8F-0AEFBD95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52900"/>
            <a:ext cx="4953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92616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这些小天体不像行星那样被彻底重塑，常保留更原始的化学和物理信息。研究它们，就是研究太阳系如何开始。</a:t>
            </a:r>
          </a:p>
        </p:txBody>
      </p:sp>
      <p:sp>
        <p:nvSpPr>
          <p:cNvPr id="12" name="source-5">
            <a:extLst xmlns:a="http://schemas.openxmlformats.org/drawingml/2006/main">
              <a:ext uri="{FF2B5EF4-FFF2-40B4-BE49-F238E27FC236}">
                <a16:creationId xmlns:a16="http://schemas.microsoft.com/office/drawing/2014/main" id="{1154E44A-432E-470E-808C-3CFE5B50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647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Image: NASA, Bennu mosaic; Source: NASA Solar System</a:t>
            </a:r>
          </a:p>
        </p:txBody>
      </p:sp>
      <p:sp>
        <p:nvSpPr>
          <p:cNvPr id="13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82467E2B-94BB-450F-884F-A978D473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564425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814C42EA-2419-442C-BF50-0D4366D6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429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探索把远处亮点变成真实世界</a:t>
            </a:r>
          </a:p>
        </p:txBody>
      </p:sp>
      <p:pic>
        <p:nvPicPr>
          <p:cNvPr id="11" name="neo-surveyo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e500a945324c90"/>
          <a:srcRect xmlns:a="http://schemas.openxmlformats.org/drawingml/2006/main" l="0" t="5556" r="0" b="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371600"/>
            <a:ext cx="5334000" cy="2667000"/>
          </a:xfrm>
          <a:prstGeom xmlns:a="http://schemas.openxmlformats.org/drawingml/2006/main" prst="rect">
            <a:avLst/>
          </a:prstGeom>
        </p:spPr>
      </p:pic>
      <p:pic>
        <p:nvPicPr>
          <p:cNvPr id="12" name="europa-clipp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5a3ae811a4a95"/>
          <a:srcRect xmlns:a="http://schemas.openxmlformats.org/drawingml/2006/main" l="0" t="5508" r="0" b="55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1371600"/>
            <a:ext cx="5334000" cy="2667000"/>
          </a:xfrm>
          <a:prstGeom xmlns:a="http://schemas.openxmlformats.org/drawingml/2006/main" prst="rect">
            <a:avLst/>
          </a:prstGeom>
        </p:spPr>
      </p:pic>
      <p:sp>
        <p:nvSpPr>
          <p:cNvPr id="4" name="neo-head">
            <a:extLst xmlns:a="http://schemas.openxmlformats.org/drawingml/2006/main">
              <a:ext uri="{FF2B5EF4-FFF2-40B4-BE49-F238E27FC236}">
                <a16:creationId xmlns:a16="http://schemas.microsoft.com/office/drawing/2014/main" id="{21DCB792-ADBB-495C-BED2-E4DA183A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NEO Surveyor</a:t>
            </a:r>
          </a:p>
        </p:txBody>
      </p:sp>
      <p:sp>
        <p:nvSpPr>
          <p:cNvPr id="5" name="neo-body">
            <a:extLst xmlns:a="http://schemas.openxmlformats.org/drawingml/2006/main">
              <a:ext uri="{FF2B5EF4-FFF2-40B4-BE49-F238E27FC236}">
                <a16:creationId xmlns:a16="http://schemas.microsoft.com/office/drawing/2014/main" id="{6D38F98B-3AFD-435B-99BE-B2E3B891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4762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寻找可能接近地球的小行星和彗星，让风险从未知变成可测量。</a:t>
            </a:r>
          </a:p>
        </p:txBody>
      </p:sp>
      <p:sp>
        <p:nvSpPr>
          <p:cNvPr id="6" name="europa-head">
            <a:extLst xmlns:a="http://schemas.openxmlformats.org/drawingml/2006/main">
              <a:ext uri="{FF2B5EF4-FFF2-40B4-BE49-F238E27FC236}">
                <a16:creationId xmlns:a16="http://schemas.microsoft.com/office/drawing/2014/main" id="{23C8912A-AD50-46D5-A022-341A22FE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Europa Clipper</a:t>
            </a:r>
          </a:p>
        </p:txBody>
      </p:sp>
      <p:sp>
        <p:nvSpPr>
          <p:cNvPr id="7" name="europa-body">
            <a:extLst xmlns:a="http://schemas.openxmlformats.org/drawingml/2006/main">
              <a:ext uri="{FF2B5EF4-FFF2-40B4-BE49-F238E27FC236}">
                <a16:creationId xmlns:a16="http://schemas.microsoft.com/office/drawing/2014/main" id="{F79DE755-48A3-446C-B1D2-AC1AA9CA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81550"/>
            <a:ext cx="4762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飞向木星的冰卫星欧罗巴，调查其海洋世界是否具备生命相关条件。</a:t>
            </a:r>
          </a:p>
        </p:txBody>
      </p:sp>
      <p:sp>
        <p:nvSpPr>
          <p:cNvPr id="8" name="source-6">
            <a:extLst xmlns:a="http://schemas.openxmlformats.org/drawingml/2006/main">
              <a:ext uri="{FF2B5EF4-FFF2-40B4-BE49-F238E27FC236}">
                <a16:creationId xmlns:a16="http://schemas.microsoft.com/office/drawing/2014/main" id="{81B4D0E1-6509-4E14-8E72-AD86978A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647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Images/Sources: NASA NEO Surveyor; NASA Europa Clipper</a:t>
            </a:r>
          </a:p>
        </p:txBody>
      </p:sp>
      <p:sp>
        <p:nvSpPr>
          <p:cNvPr id="9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F4C75F76-4B69-456A-97E1-F0CCA664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531575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F2588692-2900-4CC9-9027-E348B1F1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590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最后记住三件事</a:t>
            </a:r>
          </a:p>
        </p:txBody>
      </p:sp>
      <p:sp>
        <p:nvSpPr>
          <p:cNvPr id="2" name="panel">
            <a:extLst xmlns:a="http://schemas.openxmlformats.org/drawingml/2006/main">
              <a:ext uri="{FF2B5EF4-FFF2-40B4-BE49-F238E27FC236}">
                <a16:creationId xmlns:a16="http://schemas.microsoft.com/office/drawing/2014/main" id="{8B144D6B-ECAE-4010-BBEF-4F8AFF42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num-01">
            <a:extLst xmlns:a="http://schemas.openxmlformats.org/drawingml/2006/main">
              <a:ext uri="{FF2B5EF4-FFF2-40B4-BE49-F238E27FC236}">
                <a16:creationId xmlns:a16="http://schemas.microsoft.com/office/drawing/2014/main" id="{B3C68A21-C66E-45AB-8ED2-9BCE1201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857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4" name="head-01">
            <a:extLst xmlns:a="http://schemas.openxmlformats.org/drawingml/2006/main">
              <a:ext uri="{FF2B5EF4-FFF2-40B4-BE49-F238E27FC236}">
                <a16:creationId xmlns:a16="http://schemas.microsoft.com/office/drawing/2014/main" id="{F10A6876-53F4-411E-BC12-290FCFF9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762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太阳是中心规则</a:t>
            </a:r>
          </a:p>
        </p:txBody>
      </p:sp>
      <p:sp>
        <p:nvSpPr>
          <p:cNvPr id="5" name="body-01">
            <a:extLst xmlns:a="http://schemas.openxmlformats.org/drawingml/2006/main">
              <a:ext uri="{FF2B5EF4-FFF2-40B4-BE49-F238E27FC236}">
                <a16:creationId xmlns:a16="http://schemas.microsoft.com/office/drawing/2014/main" id="{855A5D67-3398-403E-ACDD-7424591D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2781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它的引力和能量决定了太阳系的基本秩序。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1861AAC6-C8B6-4699-836C-5950B2A7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um-02">
            <a:extLst xmlns:a="http://schemas.openxmlformats.org/drawingml/2006/main">
              <a:ext uri="{FF2B5EF4-FFF2-40B4-BE49-F238E27FC236}">
                <a16:creationId xmlns:a16="http://schemas.microsoft.com/office/drawing/2014/main" id="{19D7843E-2B96-4889-9D74-5A192296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62150"/>
            <a:ext cx="857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8" name="head-02">
            <a:extLst xmlns:a="http://schemas.openxmlformats.org/drawingml/2006/main">
              <a:ext uri="{FF2B5EF4-FFF2-40B4-BE49-F238E27FC236}">
                <a16:creationId xmlns:a16="http://schemas.microsoft.com/office/drawing/2014/main" id="{725D1451-1136-4A3A-898A-D50E5C5F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2762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行星只是主角之一</a:t>
            </a:r>
          </a:p>
        </p:txBody>
      </p:sp>
      <p:sp>
        <p:nvSpPr>
          <p:cNvPr id="9" name="body-02">
            <a:extLst xmlns:a="http://schemas.openxmlformats.org/drawingml/2006/main">
              <a:ext uri="{FF2B5EF4-FFF2-40B4-BE49-F238E27FC236}">
                <a16:creationId xmlns:a16="http://schemas.microsoft.com/office/drawing/2014/main" id="{C3E671A6-3C44-46B1-9143-E1055DAB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76600"/>
            <a:ext cx="2781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卫星、矮行星、小行星和彗星同样承载关键信息。</a:t>
            </a:r>
          </a:p>
        </p:txBody>
      </p:sp>
      <p:sp>
        <p:nvSpPr>
          <p:cNvPr id="10" name="panel">
            <a:extLst xmlns:a="http://schemas.openxmlformats.org/drawingml/2006/main">
              <a:ext uri="{FF2B5EF4-FFF2-40B4-BE49-F238E27FC236}">
                <a16:creationId xmlns:a16="http://schemas.microsoft.com/office/drawing/2014/main" id="{51011644-503C-4293-A2C1-C5FC281C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14500"/>
            <a:ext cx="3333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um-03">
            <a:extLst xmlns:a="http://schemas.openxmlformats.org/drawingml/2006/main">
              <a:ext uri="{FF2B5EF4-FFF2-40B4-BE49-F238E27FC236}">
                <a16:creationId xmlns:a16="http://schemas.microsoft.com/office/drawing/2014/main" id="{BA44365C-A271-4C40-872A-8490F9E8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62150"/>
            <a:ext cx="857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2" name="head-03">
            <a:extLst xmlns:a="http://schemas.openxmlformats.org/drawingml/2006/main">
              <a:ext uri="{FF2B5EF4-FFF2-40B4-BE49-F238E27FC236}">
                <a16:creationId xmlns:a16="http://schemas.microsoft.com/office/drawing/2014/main" id="{CA114DD6-F48B-4516-8083-01BABDAE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86050"/>
            <a:ext cx="2762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探索改变理解</a:t>
            </a:r>
          </a:p>
        </p:txBody>
      </p:sp>
      <p:sp>
        <p:nvSpPr>
          <p:cNvPr id="13" name="body-03">
            <a:extLst xmlns:a="http://schemas.openxmlformats.org/drawingml/2006/main">
              <a:ext uri="{FF2B5EF4-FFF2-40B4-BE49-F238E27FC236}">
                <a16:creationId xmlns:a16="http://schemas.microsoft.com/office/drawing/2014/main" id="{AAFDCBB4-D81E-40FF-8339-07C7F8D0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76600"/>
            <a:ext cx="2781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每一次近距离观测，都会把模糊分类变成具体世界。</a:t>
            </a:r>
          </a:p>
        </p:txBody>
      </p:sp>
      <p:sp>
        <p:nvSpPr>
          <p:cNvPr id="14" name="source-list">
            <a:extLst xmlns:a="http://schemas.openxmlformats.org/drawingml/2006/main">
              <a:ext uri="{FF2B5EF4-FFF2-40B4-BE49-F238E27FC236}">
                <a16:creationId xmlns:a16="http://schemas.microsoft.com/office/drawing/2014/main" id="{03BB6875-6659-43F1-AE5A-A7A5CDB7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857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主要来源：NASA Science 的 Solar System、Sun、Planets、Asteroids/Comets/Meteors、NEO Surveyor、Europa Clipper 页面。</a:t>
            </a:r>
          </a:p>
        </p:txBody>
      </p:sp>
      <p:sp>
        <p:nvSpPr>
          <p:cNvPr id="15" name="source-7">
            <a:extLst xmlns:a="http://schemas.openxmlformats.org/drawingml/2006/main">
              <a:ext uri="{FF2B5EF4-FFF2-40B4-BE49-F238E27FC236}">
                <a16:creationId xmlns:a16="http://schemas.microsoft.com/office/drawing/2014/main" id="{7D96BD1D-F58F-42C5-BD14-2B32E5A2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647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Sources: NASA Science</a:t>
            </a:r>
          </a:p>
        </p:txBody>
      </p:sp>
      <p:sp>
        <p:nvSpPr>
          <p:cNvPr id="16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310F3E5E-98B2-4211-9481-E50F4A68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336474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2026-06-29T11:55:18.5470000Z</dcterms:created>
  <dcterms:modified xsi:type="dcterms:W3CDTF">2026-06-29T11:55:18.5470000Z</dcterms:modified>
</coreProperties>
</file>